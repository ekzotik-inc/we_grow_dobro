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1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828800"/>
            <a:ext cx="694944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2000" b="1">
                <a:solidFill>
                  <a:srgbClr val="5EA9EE"/>
                </a:solidFill>
                <a:latin typeface="Segoe UI"/>
              </a:rPr>
              <a:t>МАРАФОН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6000" b="1">
                <a:solidFill>
                  <a:srgbClr val="FFFFFF"/>
                </a:solidFill>
                <a:latin typeface="Segoe UI"/>
              </a:rPr>
              <a:t>Добрых дел</a:t>
            </a:r>
          </a:p>
          <a:p>
            <a:pPr algn="l">
              <a:lnSpc>
                <a:spcPct val="115000"/>
              </a:lnSpc>
              <a:spcBef>
                <a:spcPts val="1800"/>
              </a:spcBef>
            </a:pPr>
            <a:r>
              <a:rPr sz="2200" b="0">
                <a:solidFill>
                  <a:srgbClr val="94A7B8"/>
                </a:solidFill>
                <a:latin typeface="Segoe UI"/>
              </a:rPr>
              <a:t>3 недели · 12 добрых дел · командный зачёт</a:t>
            </a:r>
          </a:p>
          <a:p>
            <a:pPr algn="l">
              <a:lnSpc>
                <a:spcPct val="115000"/>
              </a:lnSpc>
              <a:spcBef>
                <a:spcPts val="2200"/>
              </a:spcBef>
            </a:pPr>
            <a:r>
              <a:rPr sz="1800" b="0">
                <a:solidFill>
                  <a:srgbClr val="FFFFFF"/>
                </a:solidFill>
                <a:latin typeface="Segoe UI"/>
              </a:rPr>
              <a:t>Всё происходит в Telegram-боте: получаешь задание, делаешь доброе дело, присылаешь фото — получаешь баллы себе и своей команде.</a:t>
            </a:r>
          </a:p>
        </p:txBody>
      </p:sp>
      <p:pic>
        <p:nvPicPr>
          <p:cNvPr id="3" name="Picture 2" descr="06_men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79" y="878840"/>
            <a:ext cx="3657600" cy="51003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1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4000" b="1">
                <a:solidFill>
                  <a:srgbClr val="FFFFFF"/>
                </a:solidFill>
                <a:latin typeface="Segoe UI"/>
              </a:rPr>
              <a:t>Что вас ждёт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737360"/>
            <a:ext cx="3291840" cy="1417320"/>
          </a:xfrm>
          <a:prstGeom prst="roundRect">
            <a:avLst>
              <a:gd name="adj" fmla="val 6000"/>
            </a:avLst>
          </a:prstGeom>
          <a:solidFill>
            <a:srgbClr val="1E2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938528"/>
            <a:ext cx="274320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300" b="1">
                <a:solidFill>
                  <a:srgbClr val="F2B83E"/>
                </a:solidFill>
                <a:latin typeface="Segoe UI"/>
              </a:rPr>
              <a:t>1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900" b="1">
                <a:solidFill>
                  <a:srgbClr val="FFFFFF"/>
                </a:solidFill>
                <a:latin typeface="Segoe UI"/>
              </a:rPr>
              <a:t>3 недели марафона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0">
                <a:solidFill>
                  <a:srgbClr val="94A7B8"/>
                </a:solidFill>
                <a:latin typeface="Segoe UI"/>
              </a:rPr>
              <a:t>Каждую неделю открывается 4 новых задания.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34840" y="1737360"/>
            <a:ext cx="3291840" cy="1417320"/>
          </a:xfrm>
          <a:prstGeom prst="roundRect">
            <a:avLst>
              <a:gd name="adj" fmla="val 6000"/>
            </a:avLst>
          </a:prstGeom>
          <a:solidFill>
            <a:srgbClr val="1E2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09160" y="1938528"/>
            <a:ext cx="274320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300" b="1">
                <a:solidFill>
                  <a:srgbClr val="F2B83E"/>
                </a:solidFill>
                <a:latin typeface="Segoe UI"/>
              </a:rPr>
              <a:t>2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900" b="1">
                <a:solidFill>
                  <a:srgbClr val="FFFFFF"/>
                </a:solidFill>
                <a:latin typeface="Segoe UI"/>
              </a:rPr>
              <a:t>12 добрых дел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0">
                <a:solidFill>
                  <a:srgbClr val="94A7B8"/>
                </a:solidFill>
                <a:latin typeface="Segoe UI"/>
              </a:rPr>
              <a:t>От благодарности коллеге до помощи приюту.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737360"/>
            <a:ext cx="3291840" cy="1417320"/>
          </a:xfrm>
          <a:prstGeom prst="roundRect">
            <a:avLst>
              <a:gd name="adj" fmla="val 6000"/>
            </a:avLst>
          </a:prstGeom>
          <a:solidFill>
            <a:srgbClr val="1E2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0" y="1938528"/>
            <a:ext cx="274320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300" b="1">
                <a:solidFill>
                  <a:srgbClr val="F2B83E"/>
                </a:solidFill>
                <a:latin typeface="Segoe UI"/>
              </a:rPr>
              <a:t>3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900" b="1">
                <a:solidFill>
                  <a:srgbClr val="FFFFFF"/>
                </a:solidFill>
                <a:latin typeface="Segoe UI"/>
              </a:rPr>
              <a:t>200–500 баллов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0">
                <a:solidFill>
                  <a:srgbClr val="94A7B8"/>
                </a:solidFill>
                <a:latin typeface="Segoe UI"/>
              </a:rPr>
              <a:t>Чем сложнее дело, тем дороже оно стоит.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474720"/>
            <a:ext cx="3291840" cy="1417320"/>
          </a:xfrm>
          <a:prstGeom prst="roundRect">
            <a:avLst>
              <a:gd name="adj" fmla="val 6000"/>
            </a:avLst>
          </a:prstGeom>
          <a:solidFill>
            <a:srgbClr val="1E2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675888"/>
            <a:ext cx="274320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300" b="1">
                <a:solidFill>
                  <a:srgbClr val="F2B83E"/>
                </a:solidFill>
                <a:latin typeface="Segoe UI"/>
              </a:rPr>
              <a:t>4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900" b="1">
                <a:solidFill>
                  <a:srgbClr val="FFFFFF"/>
                </a:solidFill>
                <a:latin typeface="Segoe UI"/>
              </a:rPr>
              <a:t>Командный зачёт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0">
                <a:solidFill>
                  <a:srgbClr val="94A7B8"/>
                </a:solidFill>
                <a:latin typeface="Segoe UI"/>
              </a:rPr>
              <a:t>Ваши баллы идут вам и вашей команде.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3474720"/>
            <a:ext cx="3291840" cy="1417320"/>
          </a:xfrm>
          <a:prstGeom prst="roundRect">
            <a:avLst>
              <a:gd name="adj" fmla="val 6000"/>
            </a:avLst>
          </a:prstGeom>
          <a:solidFill>
            <a:srgbClr val="1E2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3675888"/>
            <a:ext cx="274320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300" b="1">
                <a:solidFill>
                  <a:srgbClr val="F2B83E"/>
                </a:solidFill>
                <a:latin typeface="Segoe UI"/>
              </a:rPr>
              <a:t>5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900" b="1">
                <a:solidFill>
                  <a:srgbClr val="FFFFFF"/>
                </a:solidFill>
                <a:latin typeface="Segoe UI"/>
              </a:rPr>
              <a:t>Рейтинг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0">
                <a:solidFill>
                  <a:srgbClr val="94A7B8"/>
                </a:solidFill>
                <a:latin typeface="Segoe UI"/>
              </a:rPr>
              <a:t>Видно свой вклад и место команды в реальном времени.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3474720"/>
            <a:ext cx="3291840" cy="1417320"/>
          </a:xfrm>
          <a:prstGeom prst="roundRect">
            <a:avLst>
              <a:gd name="adj" fmla="val 6000"/>
            </a:avLst>
          </a:prstGeom>
          <a:solidFill>
            <a:srgbClr val="1E2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3675888"/>
            <a:ext cx="274320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300" b="1">
                <a:solidFill>
                  <a:srgbClr val="F2B83E"/>
                </a:solidFill>
                <a:latin typeface="Segoe UI"/>
              </a:rPr>
              <a:t>6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900" b="1">
                <a:solidFill>
                  <a:srgbClr val="FFFFFF"/>
                </a:solidFill>
                <a:latin typeface="Segoe UI"/>
              </a:rPr>
              <a:t>Проверка P&amp;C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0">
                <a:solidFill>
                  <a:srgbClr val="94A7B8"/>
                </a:solidFill>
                <a:latin typeface="Segoe UI"/>
              </a:rPr>
              <a:t>Каждый отчёт смотрит человек, а не робот.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1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4000" b="1">
                <a:solidFill>
                  <a:srgbClr val="FFFFFF"/>
                </a:solidFill>
                <a:latin typeface="Segoe UI"/>
              </a:rPr>
              <a:t>Три недели — три темы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600" b="0">
                <a:solidFill>
                  <a:srgbClr val="94A7B8"/>
                </a:solidFill>
                <a:latin typeface="Segoe UI"/>
              </a:rPr>
              <a:t>Неделя открывается организаторами. Пока неделя не открыта, задания скрыты.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965960"/>
            <a:ext cx="3429000" cy="4023360"/>
          </a:xfrm>
          <a:prstGeom prst="roundRect">
            <a:avLst>
              <a:gd name="adj" fmla="val 6000"/>
            </a:avLst>
          </a:prstGeom>
          <a:solidFill>
            <a:srgbClr val="1E2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" y="2286000"/>
            <a:ext cx="2843784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2400" b="1">
                <a:solidFill>
                  <a:srgbClr val="F2B83E"/>
                </a:solidFill>
                <a:latin typeface="Segoe UI"/>
              </a:rPr>
              <a:t>Неделя 1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300" b="0">
                <a:solidFill>
                  <a:srgbClr val="94A7B8"/>
                </a:solidFill>
                <a:latin typeface="Segoe UI"/>
              </a:rPr>
              <a:t>10.09 — 16.09 · 1400 баллов</a:t>
            </a:r>
          </a:p>
          <a:p>
            <a:pPr algn="l">
              <a:lnSpc>
                <a:spcPct val="115000"/>
              </a:lnSpc>
              <a:spcBef>
                <a:spcPts val="1400"/>
              </a:spcBef>
            </a:pPr>
            <a:r>
              <a:rPr sz="1500" b="0">
                <a:solidFill>
                  <a:srgbClr val="FFFFFF"/>
                </a:solidFill>
                <a:latin typeface="Segoe UI"/>
              </a:rPr>
              <a:t>•  Выразить благодарность коллеге — 200</a:t>
            </a:r>
          </a:p>
          <a:p>
            <a:pPr algn="l">
              <a:lnSpc>
                <a:spcPct val="115000"/>
              </a:lnSpc>
              <a:spcBef>
                <a:spcPts val="1400"/>
              </a:spcBef>
            </a:pPr>
            <a:r>
              <a:rPr sz="1500" b="0">
                <a:solidFill>
                  <a:srgbClr val="FFFFFF"/>
                </a:solidFill>
                <a:latin typeface="Segoe UI"/>
              </a:rPr>
              <a:t>•  Тайный доброжелатель — 400</a:t>
            </a:r>
          </a:p>
          <a:p>
            <a:pPr algn="l">
              <a:lnSpc>
                <a:spcPct val="115000"/>
              </a:lnSpc>
              <a:spcBef>
                <a:spcPts val="1400"/>
              </a:spcBef>
            </a:pPr>
            <a:r>
              <a:rPr sz="1500" b="0">
                <a:solidFill>
                  <a:srgbClr val="FFFFFF"/>
                </a:solidFill>
                <a:latin typeface="Segoe UI"/>
              </a:rPr>
              <a:t>•  Поделиться обучающим материалом — 300</a:t>
            </a:r>
          </a:p>
          <a:p>
            <a:pPr algn="l">
              <a:lnSpc>
                <a:spcPct val="115000"/>
              </a:lnSpc>
              <a:spcBef>
                <a:spcPts val="1400"/>
              </a:spcBef>
            </a:pPr>
            <a:r>
              <a:rPr sz="1500" b="0">
                <a:solidFill>
                  <a:srgbClr val="FFFFFF"/>
                </a:solidFill>
                <a:latin typeface="Segoe UI"/>
              </a:rPr>
              <a:t>•  Визит в детский дом / хоспис — 500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17720" y="1965960"/>
            <a:ext cx="3429000" cy="4023360"/>
          </a:xfrm>
          <a:prstGeom prst="roundRect">
            <a:avLst>
              <a:gd name="adj" fmla="val 6000"/>
            </a:avLst>
          </a:prstGeom>
          <a:solidFill>
            <a:srgbClr val="1E2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910328" y="2286000"/>
            <a:ext cx="2843784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2400" b="1">
                <a:solidFill>
                  <a:srgbClr val="F2B83E"/>
                </a:solidFill>
                <a:latin typeface="Segoe UI"/>
              </a:rPr>
              <a:t>Неделя 2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300" b="0">
                <a:solidFill>
                  <a:srgbClr val="94A7B8"/>
                </a:solidFill>
                <a:latin typeface="Segoe UI"/>
              </a:rPr>
              <a:t>17.09 — 23.09 · 1400 баллов</a:t>
            </a:r>
          </a:p>
          <a:p>
            <a:pPr algn="l">
              <a:lnSpc>
                <a:spcPct val="115000"/>
              </a:lnSpc>
              <a:spcBef>
                <a:spcPts val="1400"/>
              </a:spcBef>
            </a:pPr>
            <a:r>
              <a:rPr sz="1500" b="0">
                <a:solidFill>
                  <a:srgbClr val="FFFFFF"/>
                </a:solidFill>
                <a:latin typeface="Segoe UI"/>
              </a:rPr>
              <a:t>•  Вклад в корпоративную библиотеку — 200</a:t>
            </a:r>
          </a:p>
          <a:p>
            <a:pPr algn="l">
              <a:lnSpc>
                <a:spcPct val="115000"/>
              </a:lnSpc>
              <a:spcBef>
                <a:spcPts val="1400"/>
              </a:spcBef>
            </a:pPr>
            <a:r>
              <a:rPr sz="1500" b="0">
                <a:solidFill>
                  <a:srgbClr val="FFFFFF"/>
                </a:solidFill>
                <a:latin typeface="Segoe UI"/>
              </a:rPr>
              <a:t>•  Экологический сбор — 400</a:t>
            </a:r>
          </a:p>
          <a:p>
            <a:pPr algn="l">
              <a:lnSpc>
                <a:spcPct val="115000"/>
              </a:lnSpc>
              <a:spcBef>
                <a:spcPts val="1400"/>
              </a:spcBef>
            </a:pPr>
            <a:r>
              <a:rPr sz="1500" b="0">
                <a:solidFill>
                  <a:srgbClr val="FFFFFF"/>
                </a:solidFill>
                <a:latin typeface="Segoe UI"/>
              </a:rPr>
              <a:t>•  Настольные игры с коллегами — 300</a:t>
            </a:r>
          </a:p>
          <a:p>
            <a:pPr algn="l">
              <a:lnSpc>
                <a:spcPct val="115000"/>
              </a:lnSpc>
              <a:spcBef>
                <a:spcPts val="1400"/>
              </a:spcBef>
            </a:pPr>
            <a:r>
              <a:rPr sz="1500" b="0">
                <a:solidFill>
                  <a:srgbClr val="FFFFFF"/>
                </a:solidFill>
                <a:latin typeface="Segoe UI"/>
              </a:rPr>
              <a:t>•  World CleanUp Day — 500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0" y="1965960"/>
            <a:ext cx="3429000" cy="4023360"/>
          </a:xfrm>
          <a:prstGeom prst="roundRect">
            <a:avLst>
              <a:gd name="adj" fmla="val 6000"/>
            </a:avLst>
          </a:prstGeom>
          <a:solidFill>
            <a:srgbClr val="1E2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05088" y="2286000"/>
            <a:ext cx="2843784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2400" b="1">
                <a:solidFill>
                  <a:srgbClr val="F2B83E"/>
                </a:solidFill>
                <a:latin typeface="Segoe UI"/>
              </a:rPr>
              <a:t>Неделя 3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300" b="0">
                <a:solidFill>
                  <a:srgbClr val="94A7B8"/>
                </a:solidFill>
                <a:latin typeface="Segoe UI"/>
              </a:rPr>
              <a:t>24.09 — 30.09 · 1700 баллов</a:t>
            </a:r>
          </a:p>
          <a:p>
            <a:pPr algn="l">
              <a:lnSpc>
                <a:spcPct val="115000"/>
              </a:lnSpc>
              <a:spcBef>
                <a:spcPts val="1400"/>
              </a:spcBef>
            </a:pPr>
            <a:r>
              <a:rPr sz="1500" b="0">
                <a:solidFill>
                  <a:srgbClr val="FFFFFF"/>
                </a:solidFill>
                <a:latin typeface="Segoe UI"/>
              </a:rPr>
              <a:t>•  Покормить животных в приюте — 500</a:t>
            </a:r>
          </a:p>
          <a:p>
            <a:pPr algn="l">
              <a:lnSpc>
                <a:spcPct val="115000"/>
              </a:lnSpc>
              <a:spcBef>
                <a:spcPts val="1400"/>
              </a:spcBef>
            </a:pPr>
            <a:r>
              <a:rPr sz="1500" b="0">
                <a:solidFill>
                  <a:srgbClr val="FFFFFF"/>
                </a:solidFill>
                <a:latin typeface="Segoe UI"/>
              </a:rPr>
              <a:t>•  Сбор одежды на благотворительность — 400</a:t>
            </a:r>
          </a:p>
          <a:p>
            <a:pPr algn="l">
              <a:lnSpc>
                <a:spcPct val="115000"/>
              </a:lnSpc>
              <a:spcBef>
                <a:spcPts val="1400"/>
              </a:spcBef>
            </a:pPr>
            <a:r>
              <a:rPr sz="1500" b="0">
                <a:solidFill>
                  <a:srgbClr val="FFFFFF"/>
                </a:solidFill>
                <a:latin typeface="Segoe UI"/>
              </a:rPr>
              <a:t>•  Вовлечённость и благополучие коллег — 500</a:t>
            </a:r>
          </a:p>
          <a:p>
            <a:pPr algn="l">
              <a:lnSpc>
                <a:spcPct val="115000"/>
              </a:lnSpc>
              <a:spcBef>
                <a:spcPts val="1400"/>
              </a:spcBef>
            </a:pPr>
            <a:r>
              <a:rPr sz="1500" b="0">
                <a:solidFill>
                  <a:srgbClr val="FFFFFF"/>
                </a:solidFill>
                <a:latin typeface="Segoe UI"/>
              </a:rPr>
              <a:t>•  Сходить в кино с коллегами — 300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1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4000" b="1">
                <a:solidFill>
                  <a:srgbClr val="FFFFFF"/>
                </a:solidFill>
                <a:latin typeface="Segoe UI"/>
              </a:rPr>
              <a:t>За что боремся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600" b="0">
                <a:solidFill>
                  <a:srgbClr val="94A7B8"/>
                </a:solidFill>
                <a:latin typeface="Segoe UI"/>
              </a:rPr>
              <a:t>Итоги подводим после последней недели марафона.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965960"/>
            <a:ext cx="5166360" cy="3840480"/>
          </a:xfrm>
          <a:prstGeom prst="roundRect">
            <a:avLst>
              <a:gd name="adj" fmla="val 6000"/>
            </a:avLst>
          </a:prstGeom>
          <a:solidFill>
            <a:srgbClr val="1E2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2286000"/>
            <a:ext cx="452628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2600" b="1">
                <a:solidFill>
                  <a:srgbClr val="F2B83E"/>
                </a:solidFill>
                <a:latin typeface="Segoe UI"/>
              </a:rPr>
              <a:t>Личный зачёт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500" b="0">
                <a:solidFill>
                  <a:srgbClr val="94A7B8"/>
                </a:solidFill>
                <a:latin typeface="Segoe UI"/>
              </a:rPr>
              <a:t>ТОП-10 участников с наибольшим количеством баллов</a:t>
            </a:r>
          </a:p>
          <a:p>
            <a:pPr algn="l">
              <a:lnSpc>
                <a:spcPct val="115000"/>
              </a:lnSpc>
              <a:spcBef>
                <a:spcPts val="1600"/>
              </a:spcBef>
            </a:pPr>
            <a:r>
              <a:rPr sz="1900" b="1">
                <a:solidFill>
                  <a:srgbClr val="FFFFFF"/>
                </a:solidFill>
                <a:latin typeface="Segoe UI"/>
              </a:rPr>
              <a:t>Личные консультации — прокачаете себя в таких сферах:</a:t>
            </a:r>
          </a:p>
          <a:p>
            <a:pPr algn="l">
              <a:lnSpc>
                <a:spcPct val="115000"/>
              </a:lnSpc>
              <a:spcBef>
                <a:spcPts val="1000"/>
              </a:spcBef>
            </a:pPr>
            <a:r>
              <a:rPr sz="1600" b="0">
                <a:solidFill>
                  <a:srgbClr val="FFFFFF"/>
                </a:solidFill>
                <a:latin typeface="Segoe UI"/>
              </a:rPr>
              <a:t>•  Психология</a:t>
            </a:r>
          </a:p>
          <a:p>
            <a:pPr algn="l">
              <a:lnSpc>
                <a:spcPct val="115000"/>
              </a:lnSpc>
              <a:spcBef>
                <a:spcPts val="1000"/>
              </a:spcBef>
            </a:pPr>
            <a:r>
              <a:rPr sz="1600" b="0">
                <a:solidFill>
                  <a:srgbClr val="FFFFFF"/>
                </a:solidFill>
                <a:latin typeface="Segoe UI"/>
              </a:rPr>
              <a:t>•  Нутрициология</a:t>
            </a:r>
          </a:p>
          <a:p>
            <a:pPr algn="l">
              <a:lnSpc>
                <a:spcPct val="115000"/>
              </a:lnSpc>
              <a:spcBef>
                <a:spcPts val="1000"/>
              </a:spcBef>
            </a:pPr>
            <a:r>
              <a:rPr sz="1600" b="0">
                <a:solidFill>
                  <a:srgbClr val="FFFFFF"/>
                </a:solidFill>
                <a:latin typeface="Segoe UI"/>
              </a:rPr>
              <a:t>•  Финансовая грамотность</a:t>
            </a:r>
          </a:p>
          <a:p>
            <a:pPr algn="l">
              <a:lnSpc>
                <a:spcPct val="115000"/>
              </a:lnSpc>
              <a:spcBef>
                <a:spcPts val="1000"/>
              </a:spcBef>
            </a:pPr>
            <a:r>
              <a:rPr sz="1600" b="0">
                <a:solidFill>
                  <a:srgbClr val="FFFFFF"/>
                </a:solidFill>
                <a:latin typeface="Segoe UI"/>
              </a:rPr>
              <a:t>•  Гражданское право (юридическая помощь)</a:t>
            </a:r>
          </a:p>
          <a:p>
            <a:pPr algn="l">
              <a:lnSpc>
                <a:spcPct val="115000"/>
              </a:lnSpc>
              <a:spcBef>
                <a:spcPts val="1800"/>
              </a:spcBef>
            </a:pPr>
            <a:r>
              <a:rPr sz="1300" b="0">
                <a:solidFill>
                  <a:srgbClr val="94A7B8"/>
                </a:solidFill>
                <a:latin typeface="Segoe UI"/>
              </a:rPr>
              <a:t>Считаются все баллы за три недели: и зачтённые дела, и корректировки P&amp;C.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46520" y="1965960"/>
            <a:ext cx="5166360" cy="3840480"/>
          </a:xfrm>
          <a:prstGeom prst="roundRect">
            <a:avLst>
              <a:gd name="adj" fmla="val 6000"/>
            </a:avLst>
          </a:prstGeom>
          <a:solidFill>
            <a:srgbClr val="1E2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0" y="2286000"/>
            <a:ext cx="452628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2600" b="1">
                <a:solidFill>
                  <a:srgbClr val="F2B83E"/>
                </a:solidFill>
                <a:latin typeface="Segoe UI"/>
              </a:rPr>
              <a:t>Командный зачёт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500" b="0">
                <a:solidFill>
                  <a:srgbClr val="94A7B8"/>
                </a:solidFill>
                <a:latin typeface="Segoe UI"/>
              </a:rPr>
              <a:t>Команда с наибольшим количеством набранных баллов</a:t>
            </a:r>
          </a:p>
          <a:p>
            <a:pPr algn="l">
              <a:lnSpc>
                <a:spcPct val="115000"/>
              </a:lnSpc>
              <a:spcBef>
                <a:spcPts val="1600"/>
              </a:spcBef>
            </a:pPr>
            <a:r>
              <a:rPr sz="1900" b="1">
                <a:solidFill>
                  <a:srgbClr val="FFFFFF"/>
                </a:solidFill>
                <a:latin typeface="Segoe UI"/>
              </a:rPr>
              <a:t>Командный ужин за счёт компании</a:t>
            </a:r>
          </a:p>
          <a:p>
            <a:pPr algn="l">
              <a:lnSpc>
                <a:spcPct val="115000"/>
              </a:lnSpc>
              <a:spcBef>
                <a:spcPts val="1800"/>
              </a:spcBef>
            </a:pPr>
            <a:r>
              <a:rPr sz="1300" b="0">
                <a:solidFill>
                  <a:srgbClr val="94A7B8"/>
                </a:solidFill>
                <a:latin typeface="Segoe UI"/>
              </a:rPr>
              <a:t>В зачёт команды идут баллы всех её участников.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0350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500" b="0">
                <a:solidFill>
                  <a:srgbClr val="94A7B8"/>
                </a:solidFill>
                <a:latin typeface="Segoe UI"/>
              </a:rPr>
              <a:t>Своё место видно в боте в любой момент — раздел «Призы».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1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58521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500" b="1">
                <a:solidFill>
                  <a:srgbClr val="5EA9EE"/>
                </a:solidFill>
                <a:latin typeface="Segoe UI"/>
              </a:rPr>
              <a:t>ШАГ 1 · РЕГИСТРАЦИЯ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3600" b="1">
                <a:solidFill>
                  <a:srgbClr val="FFFFFF"/>
                </a:solidFill>
                <a:latin typeface="Segoe UI"/>
              </a:rPr>
              <a:t>Знакомимся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600" b="0">
                <a:solidFill>
                  <a:srgbClr val="94A7B8"/>
                </a:solidFill>
                <a:latin typeface="Segoe UI"/>
              </a:rPr>
              <a:t>Займёт минуту, делается один раз.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331720"/>
            <a:ext cx="566928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700" b="0">
                <a:solidFill>
                  <a:srgbClr val="FFFFFF"/>
                </a:solidFill>
                <a:latin typeface="Segoe UI"/>
              </a:rPr>
              <a:t>Откройте бота и нажмите «Начать».</a:t>
            </a:r>
          </a:p>
          <a:p>
            <a:pPr algn="l">
              <a:lnSpc>
                <a:spcPct val="115000"/>
              </a:lnSpc>
              <a:spcBef>
                <a:spcPts val="1600"/>
              </a:spcBef>
            </a:pPr>
            <a:r>
              <a:rPr sz="1700" b="0">
                <a:solidFill>
                  <a:srgbClr val="FFFFFF"/>
                </a:solidFill>
                <a:latin typeface="Segoe UI"/>
              </a:rPr>
              <a:t>Напишите имя и фамилию одним сообщением.</a:t>
            </a:r>
          </a:p>
          <a:p>
            <a:pPr algn="l">
              <a:lnSpc>
                <a:spcPct val="115000"/>
              </a:lnSpc>
              <a:spcBef>
                <a:spcPts val="1600"/>
              </a:spcBef>
            </a:pPr>
            <a:r>
              <a:rPr sz="1700" b="0">
                <a:solidFill>
                  <a:srgbClr val="FFFFFF"/>
                </a:solidFill>
                <a:latin typeface="Segoe UI"/>
              </a:rPr>
              <a:t>Отправьте номер телефона: кнопкой «Поделиться номером» или текстом в формате +998 90 123 45 67.</a:t>
            </a:r>
          </a:p>
          <a:p>
            <a:pPr algn="l">
              <a:lnSpc>
                <a:spcPct val="115000"/>
              </a:lnSpc>
              <a:spcBef>
                <a:spcPts val="1600"/>
              </a:spcBef>
            </a:pPr>
            <a:r>
              <a:rPr sz="1700" b="0">
                <a:solidFill>
                  <a:srgbClr val="FFFFFF"/>
                </a:solidFill>
                <a:latin typeface="Segoe UI"/>
              </a:rPr>
              <a:t>Выберите свою команду из списка.</a:t>
            </a:r>
          </a:p>
          <a:p>
            <a:pPr algn="l">
              <a:lnSpc>
                <a:spcPct val="115000"/>
              </a:lnSpc>
              <a:spcBef>
                <a:spcPts val="1600"/>
              </a:spcBef>
            </a:pPr>
            <a:r>
              <a:rPr sz="1700" b="0">
                <a:solidFill>
                  <a:srgbClr val="FFFFFF"/>
                </a:solidFill>
                <a:latin typeface="Segoe UI"/>
              </a:rPr>
              <a:t>Пришли по ссылке-приглашению от коллеги? Команда уже выбрана — шагов всего два.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5486400"/>
            <a:ext cx="5669280" cy="868680"/>
          </a:xfrm>
          <a:prstGeom prst="roundRect">
            <a:avLst>
              <a:gd name="adj" fmla="val 6000"/>
            </a:avLst>
          </a:prstGeom>
          <a:solidFill>
            <a:srgbClr val="1E2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5669280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>
                <a:solidFill>
                  <a:srgbClr val="94A7B8"/>
                </a:solidFill>
                <a:latin typeface="Segoe UI"/>
              </a:rPr>
              <a:t>Кнопка «Поделиться номером» работает в мобильном Telegram. В десктопной версии просто напишите номер текстом.</a:t>
            </a:r>
          </a:p>
        </p:txBody>
      </p:sp>
      <p:pic>
        <p:nvPicPr>
          <p:cNvPr id="6" name="Picture 5" descr="01_welc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1" y="2588111"/>
            <a:ext cx="1818137" cy="1681777"/>
          </a:xfrm>
          <a:prstGeom prst="rect">
            <a:avLst/>
          </a:prstGeom>
        </p:spPr>
      </p:pic>
      <p:pic>
        <p:nvPicPr>
          <p:cNvPr id="7" name="Picture 6" descr="02_reg_na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9018" y="2588111"/>
            <a:ext cx="2982461" cy="168177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1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58521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500" b="1">
                <a:solidFill>
                  <a:srgbClr val="5EA9EE"/>
                </a:solidFill>
                <a:latin typeface="Segoe UI"/>
              </a:rPr>
              <a:t>ШАГ 2 · ПОДТВЕРЖДЕНИЕ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3600" b="1">
                <a:solidFill>
                  <a:srgbClr val="FFFFFF"/>
                </a:solidFill>
                <a:latin typeface="Segoe UI"/>
              </a:rPr>
              <a:t>Ждём зелёный свет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600" b="0">
                <a:solidFill>
                  <a:srgbClr val="94A7B8"/>
                </a:solidFill>
                <a:latin typeface="Segoe UI"/>
              </a:rPr>
              <a:t>Заявку проверяет сотрудник P&amp;C.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331720"/>
            <a:ext cx="566928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700" b="0">
                <a:solidFill>
                  <a:srgbClr val="FFFFFF"/>
                </a:solidFill>
                <a:latin typeface="Segoe UI"/>
              </a:rPr>
              <a:t>После регистрации заявка уходит на проверку.</a:t>
            </a:r>
          </a:p>
          <a:p>
            <a:pPr algn="l">
              <a:lnSpc>
                <a:spcPct val="115000"/>
              </a:lnSpc>
              <a:spcBef>
                <a:spcPts val="1600"/>
              </a:spcBef>
            </a:pPr>
            <a:r>
              <a:rPr sz="1700" b="0">
                <a:solidFill>
                  <a:srgbClr val="FFFFFF"/>
                </a:solidFill>
                <a:latin typeface="Segoe UI"/>
              </a:rPr>
              <a:t>Бот пришлёт сообщение, когда вас подтвердят.</a:t>
            </a:r>
          </a:p>
          <a:p>
            <a:pPr algn="l">
              <a:lnSpc>
                <a:spcPct val="115000"/>
              </a:lnSpc>
              <a:spcBef>
                <a:spcPts val="1600"/>
              </a:spcBef>
            </a:pPr>
            <a:r>
              <a:rPr sz="1700" b="0">
                <a:solidFill>
                  <a:srgbClr val="FFFFFF"/>
                </a:solidFill>
                <a:latin typeface="Segoe UI"/>
              </a:rPr>
              <a:t>До подтверждения задания недоступны — это нормально.</a:t>
            </a:r>
          </a:p>
          <a:p>
            <a:pPr algn="l">
              <a:lnSpc>
                <a:spcPct val="115000"/>
              </a:lnSpc>
              <a:spcBef>
                <a:spcPts val="1600"/>
              </a:spcBef>
            </a:pPr>
            <a:r>
              <a:rPr sz="1700" b="0">
                <a:solidFill>
                  <a:srgbClr val="FFFFFF"/>
                </a:solidFill>
                <a:latin typeface="Segoe UI"/>
              </a:rPr>
              <a:t>Если ждёте дольше рабочего дня — напишите в «Помощь».</a:t>
            </a:r>
          </a:p>
        </p:txBody>
      </p:sp>
      <p:pic>
        <p:nvPicPr>
          <p:cNvPr id="4" name="Picture 3" descr="03_reg_ph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2407994"/>
            <a:ext cx="2552513" cy="2042011"/>
          </a:xfrm>
          <a:prstGeom prst="rect">
            <a:avLst/>
          </a:prstGeom>
        </p:spPr>
      </p:pic>
      <p:pic>
        <p:nvPicPr>
          <p:cNvPr id="5" name="Picture 4" descr="05_pend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3393" y="2407994"/>
            <a:ext cx="2248085" cy="204201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1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58521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500" b="1">
                <a:solidFill>
                  <a:srgbClr val="5EA9EE"/>
                </a:solidFill>
                <a:latin typeface="Segoe UI"/>
              </a:rPr>
              <a:t>ШАГ 3 · ГЛАВНОЕ МЕНЮ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3600" b="1">
                <a:solidFill>
                  <a:srgbClr val="FFFFFF"/>
                </a:solidFill>
                <a:latin typeface="Segoe UI"/>
              </a:rPr>
              <a:t>Ваш штаб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600" b="0">
                <a:solidFill>
                  <a:srgbClr val="94A7B8"/>
                </a:solidFill>
                <a:latin typeface="Segoe UI"/>
              </a:rPr>
              <a:t>Отсюда доступно всё.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331720"/>
            <a:ext cx="566928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700" b="0">
                <a:solidFill>
                  <a:srgbClr val="FFFFFF"/>
                </a:solidFill>
                <a:latin typeface="Segoe UI"/>
              </a:rPr>
              <a:t>«Задания недели» — список дел текущей недели.</a:t>
            </a:r>
          </a:p>
          <a:p>
            <a:pPr algn="l">
              <a:lnSpc>
                <a:spcPct val="115000"/>
              </a:lnSpc>
              <a:spcBef>
                <a:spcPts val="1600"/>
              </a:spcBef>
            </a:pPr>
            <a:r>
              <a:rPr sz="1700" b="0">
                <a:solidFill>
                  <a:srgbClr val="FFFFFF"/>
                </a:solidFill>
                <a:latin typeface="Segoe UI"/>
              </a:rPr>
              <a:t>«Моя команда» — состав и баллы команды.</a:t>
            </a:r>
          </a:p>
          <a:p>
            <a:pPr algn="l">
              <a:lnSpc>
                <a:spcPct val="115000"/>
              </a:lnSpc>
              <a:spcBef>
                <a:spcPts val="1600"/>
              </a:spcBef>
            </a:pPr>
            <a:r>
              <a:rPr sz="1700" b="0">
                <a:solidFill>
                  <a:srgbClr val="FFFFFF"/>
                </a:solidFill>
                <a:latin typeface="Segoe UI"/>
              </a:rPr>
              <a:t>«Мой вклад» — что вы сдали и что зачтено.</a:t>
            </a:r>
          </a:p>
          <a:p>
            <a:pPr algn="l">
              <a:lnSpc>
                <a:spcPct val="115000"/>
              </a:lnSpc>
              <a:spcBef>
                <a:spcPts val="1600"/>
              </a:spcBef>
            </a:pPr>
            <a:r>
              <a:rPr sz="1700" b="0">
                <a:solidFill>
                  <a:srgbClr val="FFFFFF"/>
                </a:solidFill>
                <a:latin typeface="Segoe UI"/>
              </a:rPr>
              <a:t>«Рейтинг» — ТОП-10 команд и ТОП-10 участников, видно своё место.</a:t>
            </a:r>
          </a:p>
          <a:p>
            <a:pPr algn="l">
              <a:lnSpc>
                <a:spcPct val="115000"/>
              </a:lnSpc>
              <a:spcBef>
                <a:spcPts val="1600"/>
              </a:spcBef>
            </a:pPr>
            <a:r>
              <a:rPr sz="1700" b="0">
                <a:solidFill>
                  <a:srgbClr val="FFFFFF"/>
                </a:solidFill>
                <a:latin typeface="Segoe UI"/>
              </a:rPr>
              <a:t>«Галерея» — работы коллег: фото листаются прямо в сообщении.</a:t>
            </a:r>
          </a:p>
          <a:p>
            <a:pPr algn="l">
              <a:lnSpc>
                <a:spcPct val="115000"/>
              </a:lnSpc>
              <a:spcBef>
                <a:spcPts val="1600"/>
              </a:spcBef>
            </a:pPr>
            <a:r>
              <a:rPr sz="1700" b="0">
                <a:solidFill>
                  <a:srgbClr val="FFFFFF"/>
                </a:solidFill>
                <a:latin typeface="Segoe UI"/>
              </a:rPr>
              <a:t>«Правила» и «Помощь» — если что-то непонятно.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5486400"/>
            <a:ext cx="5669280" cy="868680"/>
          </a:xfrm>
          <a:prstGeom prst="roundRect">
            <a:avLst>
              <a:gd name="adj" fmla="val 6000"/>
            </a:avLst>
          </a:prstGeom>
          <a:solidFill>
            <a:srgbClr val="1E2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5669280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>
                <a:solidFill>
                  <a:srgbClr val="94A7B8"/>
                </a:solidFill>
                <a:latin typeface="Segoe UI"/>
              </a:rPr>
              <a:t>«Моя команда» → «Пригласить в команду» — ссылка, по которой коллега попадёт именно в вашу команду и зарегистрируется в два шага.</a:t>
            </a:r>
          </a:p>
        </p:txBody>
      </p:sp>
      <p:pic>
        <p:nvPicPr>
          <p:cNvPr id="6" name="Picture 5" descr="06_men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2304450"/>
            <a:ext cx="1612899" cy="2249099"/>
          </a:xfrm>
          <a:prstGeom prst="rect">
            <a:avLst/>
          </a:prstGeom>
        </p:spPr>
      </p:pic>
      <p:pic>
        <p:nvPicPr>
          <p:cNvPr id="7" name="Picture 6" descr="13_rat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3779" y="2304450"/>
            <a:ext cx="3187699" cy="224909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1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58521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500" b="1">
                <a:solidFill>
                  <a:srgbClr val="5EA9EE"/>
                </a:solidFill>
                <a:latin typeface="Segoe UI"/>
              </a:rPr>
              <a:t>ШАГ 4 · ВЫБОР ЗАДАНИЯ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3600" b="1">
                <a:solidFill>
                  <a:srgbClr val="FFFFFF"/>
                </a:solidFill>
                <a:latin typeface="Segoe UI"/>
              </a:rPr>
              <a:t>Выбираем доброе дело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600" b="0">
                <a:solidFill>
                  <a:srgbClr val="94A7B8"/>
                </a:solidFill>
                <a:latin typeface="Segoe UI"/>
              </a:rPr>
              <a:t>Задания открываются по неделям.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331720"/>
            <a:ext cx="566928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700" b="0">
                <a:solidFill>
                  <a:srgbClr val="FFFFFF"/>
                </a:solidFill>
                <a:latin typeface="Segoe UI"/>
              </a:rPr>
              <a:t>Нажмите «Задания недели» — увидите 4 дела и их стоимость.</a:t>
            </a:r>
          </a:p>
          <a:p>
            <a:pPr algn="l">
              <a:lnSpc>
                <a:spcPct val="115000"/>
              </a:lnSpc>
              <a:spcBef>
                <a:spcPts val="1600"/>
              </a:spcBef>
            </a:pPr>
            <a:r>
              <a:rPr sz="1700" b="0">
                <a:solidFill>
                  <a:srgbClr val="FFFFFF"/>
                </a:solidFill>
                <a:latin typeface="Segoe UI"/>
              </a:rPr>
              <a:t>Откройте любое задание кнопкой «Задание 1…4».</a:t>
            </a:r>
          </a:p>
          <a:p>
            <a:pPr algn="l">
              <a:lnSpc>
                <a:spcPct val="115000"/>
              </a:lnSpc>
              <a:spcBef>
                <a:spcPts val="1600"/>
              </a:spcBef>
            </a:pPr>
            <a:r>
              <a:rPr sz="1700" b="0">
                <a:solidFill>
                  <a:srgbClr val="FFFFFF"/>
                </a:solidFill>
                <a:latin typeface="Segoe UI"/>
              </a:rPr>
              <a:t>Прочитайте описание: что нужно сделать и сколько это стоит.</a:t>
            </a:r>
          </a:p>
          <a:p>
            <a:pPr algn="l">
              <a:lnSpc>
                <a:spcPct val="115000"/>
              </a:lnSpc>
              <a:spcBef>
                <a:spcPts val="1600"/>
              </a:spcBef>
            </a:pPr>
            <a:r>
              <a:rPr sz="1700" b="0">
                <a:solidFill>
                  <a:srgbClr val="FFFFFF"/>
                </a:solidFill>
                <a:latin typeface="Segoe UI"/>
              </a:rPr>
              <a:t>Нажмите «Выполнил» — бот проведёт по шагам.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5486400"/>
            <a:ext cx="5669280" cy="868680"/>
          </a:xfrm>
          <a:prstGeom prst="roundRect">
            <a:avLst>
              <a:gd name="adj" fmla="val 6000"/>
            </a:avLst>
          </a:prstGeom>
          <a:solidFill>
            <a:srgbClr val="1E2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5669280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>
                <a:solidFill>
                  <a:srgbClr val="94A7B8"/>
                </a:solidFill>
                <a:latin typeface="Segoe UI"/>
              </a:rPr>
              <a:t>Если недели ещё не открыты, бот честно скажет: задания скоро будут доступны.</a:t>
            </a:r>
          </a:p>
        </p:txBody>
      </p:sp>
      <p:pic>
        <p:nvPicPr>
          <p:cNvPr id="6" name="Picture 5" descr="07_wee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287665"/>
            <a:ext cx="2100492" cy="4282670"/>
          </a:xfrm>
          <a:prstGeom prst="rect">
            <a:avLst/>
          </a:prstGeom>
        </p:spPr>
      </p:pic>
      <p:pic>
        <p:nvPicPr>
          <p:cNvPr id="7" name="Picture 6" descr="08_ta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1372" y="1287665"/>
            <a:ext cx="2700107" cy="428267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1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58521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500" b="1">
                <a:solidFill>
                  <a:srgbClr val="5EA9EE"/>
                </a:solidFill>
                <a:latin typeface="Segoe UI"/>
              </a:rPr>
              <a:t>ШАГ 5 · ОТЧЁТ ПО ШАГАМ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3600" b="1">
                <a:solidFill>
                  <a:srgbClr val="FFFFFF"/>
                </a:solidFill>
                <a:latin typeface="Segoe UI"/>
              </a:rPr>
              <a:t>Присылаем доказательства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600" b="0">
                <a:solidFill>
                  <a:srgbClr val="94A7B8"/>
                </a:solidFill>
                <a:latin typeface="Segoe UI"/>
              </a:rPr>
              <a:t>Каждый шаг — отдельное сообщение.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331720"/>
            <a:ext cx="566928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700" b="0">
                <a:solidFill>
                  <a:srgbClr val="FFFFFF"/>
                </a:solidFill>
                <a:latin typeface="Segoe UI"/>
              </a:rPr>
              <a:t>Бот присылает шаг: что сфотографировать или написать.</a:t>
            </a:r>
          </a:p>
          <a:p>
            <a:pPr algn="l">
              <a:lnSpc>
                <a:spcPct val="115000"/>
              </a:lnSpc>
              <a:spcBef>
                <a:spcPts val="1600"/>
              </a:spcBef>
            </a:pPr>
            <a:r>
              <a:rPr sz="1700" b="0">
                <a:solidFill>
                  <a:srgbClr val="FFFFFF"/>
                </a:solidFill>
                <a:latin typeface="Segoe UI"/>
              </a:rPr>
              <a:t>В каждом шаге есть блок «Что должно быть видно» и «Что не подойдёт».</a:t>
            </a:r>
          </a:p>
          <a:p>
            <a:pPr algn="l">
              <a:lnSpc>
                <a:spcPct val="115000"/>
              </a:lnSpc>
              <a:spcBef>
                <a:spcPts val="1600"/>
              </a:spcBef>
            </a:pPr>
            <a:r>
              <a:rPr sz="1700" b="0">
                <a:solidFill>
                  <a:srgbClr val="FFFFFF"/>
                </a:solidFill>
                <a:latin typeface="Segoe UI"/>
              </a:rPr>
              <a:t>Отправьте фото или текст ответным сообщением.</a:t>
            </a:r>
          </a:p>
          <a:p>
            <a:pPr algn="l">
              <a:lnSpc>
                <a:spcPct val="115000"/>
              </a:lnSpc>
              <a:spcBef>
                <a:spcPts val="1600"/>
              </a:spcBef>
            </a:pPr>
            <a:r>
              <a:rPr sz="1700" b="0">
                <a:solidFill>
                  <a:srgbClr val="FFFFFF"/>
                </a:solidFill>
                <a:latin typeface="Segoe UI"/>
              </a:rPr>
              <a:t>Бот подтвердит шаг и откроет следующий.</a:t>
            </a:r>
          </a:p>
          <a:p>
            <a:pPr algn="l">
              <a:lnSpc>
                <a:spcPct val="115000"/>
              </a:lnSpc>
              <a:spcBef>
                <a:spcPts val="1600"/>
              </a:spcBef>
            </a:pPr>
            <a:r>
              <a:rPr sz="1700" b="0">
                <a:solidFill>
                  <a:srgbClr val="FFFFFF"/>
                </a:solidFill>
                <a:latin typeface="Segoe UI"/>
              </a:rPr>
              <a:t>Когда шаги закончились — нажмите «Отправить на проверку».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5486400"/>
            <a:ext cx="5669280" cy="868680"/>
          </a:xfrm>
          <a:prstGeom prst="roundRect">
            <a:avLst>
              <a:gd name="adj" fmla="val 6000"/>
            </a:avLst>
          </a:prstGeom>
          <a:solidFill>
            <a:srgbClr val="1E2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5669280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>
                <a:solidFill>
                  <a:srgbClr val="94A7B8"/>
                </a:solidFill>
                <a:latin typeface="Segoe UI"/>
              </a:rPr>
              <a:t>Отчёт можно продолжить позже — бот помнит, на каком шаге вы остановились.</a:t>
            </a:r>
          </a:p>
        </p:txBody>
      </p:sp>
      <p:pic>
        <p:nvPicPr>
          <p:cNvPr id="6" name="Picture 5" descr="09_ste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651275"/>
            <a:ext cx="2310400" cy="3555450"/>
          </a:xfrm>
          <a:prstGeom prst="rect">
            <a:avLst/>
          </a:prstGeom>
        </p:spPr>
      </p:pic>
      <p:pic>
        <p:nvPicPr>
          <p:cNvPr id="7" name="Picture 6" descr="10_step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1280" y="1651275"/>
            <a:ext cx="2490198" cy="35554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1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58521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500" b="1">
                <a:solidFill>
                  <a:srgbClr val="5EA9EE"/>
                </a:solidFill>
                <a:latin typeface="Segoe UI"/>
              </a:rPr>
              <a:t>ШАГ 6 · БАЛЛЫ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3600" b="1">
                <a:solidFill>
                  <a:srgbClr val="FFFFFF"/>
                </a:solidFill>
                <a:latin typeface="Segoe UI"/>
              </a:rPr>
              <a:t>Получаем результат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600" b="0">
                <a:solidFill>
                  <a:srgbClr val="94A7B8"/>
                </a:solidFill>
                <a:latin typeface="Segoe UI"/>
              </a:rPr>
              <a:t>Отчёт смотрит P&amp;C.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331720"/>
            <a:ext cx="566928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700" b="0">
                <a:solidFill>
                  <a:srgbClr val="FFFFFF"/>
                </a:solidFill>
                <a:latin typeface="Segoe UI"/>
              </a:rPr>
              <a:t>После отправки отчёт уходит на проверку.</a:t>
            </a:r>
          </a:p>
          <a:p>
            <a:pPr algn="l">
              <a:lnSpc>
                <a:spcPct val="115000"/>
              </a:lnSpc>
              <a:spcBef>
                <a:spcPts val="1600"/>
              </a:spcBef>
            </a:pPr>
            <a:r>
              <a:rPr sz="1700" b="0">
                <a:solidFill>
                  <a:srgbClr val="FFFFFF"/>
                </a:solidFill>
                <a:latin typeface="Segoe UI"/>
              </a:rPr>
              <a:t>Если всё в порядке — баллы падают вам и команде, придёт уведомление.</a:t>
            </a:r>
          </a:p>
          <a:p>
            <a:pPr algn="l">
              <a:lnSpc>
                <a:spcPct val="115000"/>
              </a:lnSpc>
              <a:spcBef>
                <a:spcPts val="1600"/>
              </a:spcBef>
            </a:pPr>
            <a:r>
              <a:rPr sz="1700" b="0">
                <a:solidFill>
                  <a:srgbClr val="FFFFFF"/>
                </a:solidFill>
                <a:latin typeface="Segoe UI"/>
              </a:rPr>
              <a:t>Если чего-то не хватило — бот объяснит, что поправить, и можно переслать.</a:t>
            </a:r>
          </a:p>
          <a:p>
            <a:pPr algn="l">
              <a:lnSpc>
                <a:spcPct val="115000"/>
              </a:lnSpc>
              <a:spcBef>
                <a:spcPts val="1600"/>
              </a:spcBef>
            </a:pPr>
            <a:r>
              <a:rPr sz="1700" b="0">
                <a:solidFill>
                  <a:srgbClr val="FFFFFF"/>
                </a:solidFill>
                <a:latin typeface="Segoe UI"/>
              </a:rPr>
              <a:t>Свои баллы всегда видно в «Мой вклад», командные — в «Рейтинге».</a:t>
            </a:r>
          </a:p>
        </p:txBody>
      </p:sp>
      <p:pic>
        <p:nvPicPr>
          <p:cNvPr id="4" name="Picture 3" descr="11_read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2317539"/>
            <a:ext cx="1650003" cy="2222921"/>
          </a:xfrm>
          <a:prstGeom prst="rect">
            <a:avLst/>
          </a:prstGeom>
        </p:spPr>
      </p:pic>
      <p:pic>
        <p:nvPicPr>
          <p:cNvPr id="5" name="Picture 4" descr="13_rat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0883" y="2317539"/>
            <a:ext cx="3150596" cy="222292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1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280160"/>
            <a:ext cx="658368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4000" b="1">
                <a:solidFill>
                  <a:srgbClr val="FFFFFF"/>
                </a:solidFill>
                <a:latin typeface="Segoe UI"/>
              </a:rPr>
              <a:t>Коротко: что делать</a:t>
            </a:r>
          </a:p>
          <a:p>
            <a:pPr algn="l">
              <a:lnSpc>
                <a:spcPct val="115000"/>
              </a:lnSpc>
              <a:spcBef>
                <a:spcPts val="2200"/>
              </a:spcBef>
            </a:pPr>
            <a:r>
              <a:rPr sz="2000" b="0">
                <a:solidFill>
                  <a:srgbClr val="FFFFFF"/>
                </a:solidFill>
                <a:latin typeface="Segoe UI"/>
              </a:rPr>
              <a:t>1.  Открыть бота и нажать «Начать»</a:t>
            </a:r>
          </a:p>
          <a:p>
            <a:pPr algn="l">
              <a:lnSpc>
                <a:spcPct val="115000"/>
              </a:lnSpc>
              <a:spcBef>
                <a:spcPts val="1200"/>
              </a:spcBef>
            </a:pPr>
            <a:r>
              <a:rPr sz="2000" b="0">
                <a:solidFill>
                  <a:srgbClr val="FFFFFF"/>
                </a:solidFill>
                <a:latin typeface="Segoe UI"/>
              </a:rPr>
              <a:t>2.  Пройти регистрацию: имя → номер → команда</a:t>
            </a:r>
          </a:p>
          <a:p>
            <a:pPr algn="l">
              <a:lnSpc>
                <a:spcPct val="115000"/>
              </a:lnSpc>
              <a:spcBef>
                <a:spcPts val="1200"/>
              </a:spcBef>
            </a:pPr>
            <a:r>
              <a:rPr sz="2000" b="0">
                <a:solidFill>
                  <a:srgbClr val="FFFFFF"/>
                </a:solidFill>
                <a:latin typeface="Segoe UI"/>
              </a:rPr>
              <a:t>3.  Дождаться подтверждения от P&amp;C</a:t>
            </a:r>
          </a:p>
          <a:p>
            <a:pPr algn="l">
              <a:lnSpc>
                <a:spcPct val="115000"/>
              </a:lnSpc>
              <a:spcBef>
                <a:spcPts val="1200"/>
              </a:spcBef>
            </a:pPr>
            <a:r>
              <a:rPr sz="2000" b="0">
                <a:solidFill>
                  <a:srgbClr val="FFFFFF"/>
                </a:solidFill>
                <a:latin typeface="Segoe UI"/>
              </a:rPr>
              <a:t>4.  Открыть «Задания недели» и выбрать дело</a:t>
            </a:r>
          </a:p>
          <a:p>
            <a:pPr algn="l">
              <a:lnSpc>
                <a:spcPct val="115000"/>
              </a:lnSpc>
              <a:spcBef>
                <a:spcPts val="1200"/>
              </a:spcBef>
            </a:pPr>
            <a:r>
              <a:rPr sz="2000" b="0">
                <a:solidFill>
                  <a:srgbClr val="FFFFFF"/>
                </a:solidFill>
                <a:latin typeface="Segoe UI"/>
              </a:rPr>
              <a:t>5.  Сделать доброе дело и прислать отчёт по шагам</a:t>
            </a:r>
          </a:p>
          <a:p>
            <a:pPr algn="l">
              <a:lnSpc>
                <a:spcPct val="115000"/>
              </a:lnSpc>
              <a:spcBef>
                <a:spcPts val="1200"/>
              </a:spcBef>
            </a:pPr>
            <a:r>
              <a:rPr sz="2000" b="0">
                <a:solidFill>
                  <a:srgbClr val="FFFFFF"/>
                </a:solidFill>
                <a:latin typeface="Segoe UI"/>
              </a:rPr>
              <a:t>6.  Получить баллы и следить за рейтингом</a:t>
            </a:r>
          </a:p>
          <a:p>
            <a:pPr algn="l">
              <a:lnSpc>
                <a:spcPct val="115000"/>
              </a:lnSpc>
              <a:spcBef>
                <a:spcPts val="1200"/>
              </a:spcBef>
            </a:pPr>
            <a:r>
              <a:rPr sz="2000" b="0">
                <a:solidFill>
                  <a:srgbClr val="FFFFFF"/>
                </a:solidFill>
                <a:latin typeface="Segoe UI"/>
              </a:rPr>
              <a:t>7.  Побороться за призы: ТОП-10 и команда-победитель</a:t>
            </a:r>
          </a:p>
          <a:p>
            <a:pPr algn="l">
              <a:lnSpc>
                <a:spcPct val="115000"/>
              </a:lnSpc>
              <a:spcBef>
                <a:spcPts val="2600"/>
              </a:spcBef>
            </a:pPr>
            <a:r>
              <a:rPr sz="1700" b="0">
                <a:solidFill>
                  <a:srgbClr val="94A7B8"/>
                </a:solidFill>
                <a:latin typeface="Segoe UI"/>
              </a:rPr>
              <a:t>Вопросы — раздел «Помощь» в боте.</a:t>
            </a:r>
          </a:p>
        </p:txBody>
      </p:sp>
      <p:pic>
        <p:nvPicPr>
          <p:cNvPr id="3" name="Picture 2" descr="14_hel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372236"/>
            <a:ext cx="3749038" cy="411352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